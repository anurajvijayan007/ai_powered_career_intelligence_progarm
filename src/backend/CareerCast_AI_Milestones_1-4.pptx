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CareerCast AI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Project Documentation — Milestones 1, 2, 3 &amp; 4</a:t>
            </a:r>
          </a:p>
          <a:p>
            <a:r>
              <a:t>AI-Powered Career Guidance System using NLP &amp; Machine Learning</a:t>
            </a:r>
          </a:p>
          <a:p/>
          <a:p>
            <a:r>
              <a:t>Developer: Anuraj Vijayan K</a:t>
            </a:r>
          </a:p>
          <a:p>
            <a:r>
              <a:t>Institution: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CareerCast AI Prediction?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CareerCast AI Prediction is an intelligent career guidance system that:</a:t>
            </a:r>
          </a:p>
          <a:p>
            <a:pPr/>
          </a:p>
          <a:p>
            <a:pPr/>
            <a:r>
              <a:t>• Analyzes user resumes or profile data using Natural Language Processing (NLP)</a:t>
            </a:r>
          </a:p>
          <a:p>
            <a:pPr/>
            <a:r>
              <a:t>• Extracts technical, professional, and soft skills from unstructured text</a:t>
            </a:r>
          </a:p>
          <a:p>
            <a:pPr/>
            <a:r>
              <a:t>• Predicts the most suitable career paths using multiple ML models</a:t>
            </a:r>
          </a:p>
          <a:p>
            <a:pPr/>
            <a:r>
              <a:t>• Generates detailed skill-gap reports with personalized improvement plans</a:t>
            </a:r>
          </a:p>
          <a:p>
            <a:pPr/>
            <a:r>
              <a:t>• Provides interactive visualizations for model comparison and skill embeddings</a:t>
            </a:r>
          </a:p>
          <a:p>
            <a:pPr/>
          </a:p>
          <a:p>
            <a:pPr/>
            <a:r>
              <a:t>The system combines:</a:t>
            </a:r>
          </a:p>
          <a:p>
            <a:pPr/>
            <a:r>
              <a:t>  - spaCy NER for keyword extraction</a:t>
            </a:r>
          </a:p>
          <a:p>
            <a:pPr/>
            <a:r>
              <a:t>  - Sentence-BERT for semantic skill matching</a:t>
            </a:r>
          </a:p>
          <a:p>
            <a:pPr/>
            <a:r>
              <a:t>  - Logistic Regression, Random Forest, and XGBoost for prediction</a:t>
            </a:r>
          </a:p>
          <a:p>
            <a:pPr/>
            <a:r>
              <a:t>  - React frontend with PDF export and career comparison 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career guidance suffers from several limitations:</a:t>
            </a:r>
          </a:p>
          <a:p>
            <a:pPr/>
          </a:p>
          <a:p>
            <a:pPr/>
            <a:r>
              <a:t>1. MANUAL ANALYSIS — Career counselors manually review resumes, which is time-consuming and subjective</a:t>
            </a:r>
          </a:p>
          <a:p>
            <a:pPr/>
          </a:p>
          <a:p>
            <a:pPr/>
            <a:r>
              <a:t>2. INCONSISTENT EVALUATION — Different counselors may provide conflicting career suggestions</a:t>
            </a:r>
          </a:p>
          <a:p>
            <a:pPr/>
          </a:p>
          <a:p>
            <a:pPr/>
            <a:r>
              <a:t>3. LACK OF PERSONALIZATION — Generic career tests don't account for specific technical skills</a:t>
            </a:r>
          </a:p>
          <a:p>
            <a:pPr/>
          </a:p>
          <a:p>
            <a:pPr/>
            <a:r>
              <a:t>4. NO SKILL-GAP INSIGHT — Users don't know which skills they need to develop for target careers</a:t>
            </a:r>
          </a:p>
          <a:p>
            <a:pPr/>
          </a:p>
          <a:p>
            <a:pPr/>
            <a:r>
              <a:t>5. NO ACTIONABLE ROADMAP — Even when skill gaps are identified, users lack structured learning paths</a:t>
            </a:r>
          </a:p>
          <a:p>
            <a:pPr/>
          </a:p>
          <a:p>
            <a:pPr/>
            <a:r>
              <a:t>CareerCast AI solves these problems by:</a:t>
            </a:r>
          </a:p>
          <a:p>
            <a:pPr/>
            <a:r>
              <a:t>  ✓ Automated resume parsing and skill extraction</a:t>
            </a:r>
          </a:p>
          <a:p>
            <a:pPr/>
            <a:r>
              <a:t>  ✓ Multi-model ML prediction for objective career matching</a:t>
            </a:r>
          </a:p>
          <a:p>
            <a:pPr/>
            <a:r>
              <a:t>  ✓ Detailed skill-gap analysis with priority-based improvement plans</a:t>
            </a:r>
          </a:p>
          <a:p>
            <a:pPr/>
            <a:r>
              <a:t>  ✓ Interactive visualizations and comparison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 Built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developed in 4 milestones over 8 weeks:</a:t>
            </a:r>
          </a:p>
          <a:p>
            <a:pPr/>
          </a:p>
          <a:p>
            <a:pPr/>
            <a:r>
              <a:t>MILESTONE 1 — Foundation &amp; Data Preparation:</a:t>
            </a:r>
          </a:p>
          <a:p>
            <a:pPr/>
            <a:r>
              <a:t>  • Set up FastAPI backend with spaCy NER and PDFPlumber</a:t>
            </a:r>
          </a:p>
          <a:p>
            <a:pPr/>
            <a:r>
              <a:t>  • Implemented regex-based skill extraction engine</a:t>
            </a:r>
          </a:p>
          <a:p>
            <a:pPr/>
            <a:r>
              <a:t>  • Built feature vectorization pipeline</a:t>
            </a:r>
          </a:p>
          <a:p>
            <a:pPr/>
            <a:r>
              <a:t>  • Created React frontend with resume upload and profile form</a:t>
            </a:r>
          </a:p>
          <a:p>
            <a:pPr/>
          </a:p>
          <a:p>
            <a:pPr/>
            <a:r>
              <a:t>MILESTONE 2 — ML Pipeline &amp; Predictions:</a:t>
            </a:r>
          </a:p>
          <a:p>
            <a:pPr/>
            <a:r>
              <a:t>  • Trained Logistic Regression, Random Forest, and XGBoost models</a:t>
            </a:r>
          </a:p>
          <a:p>
            <a:pPr/>
            <a:r>
              <a:t>  • Integrated Sentence-BERT for semantic similarity</a:t>
            </a:r>
          </a:p>
          <a:p>
            <a:pPr/>
            <a:r>
              <a:t>  • Implemented multi-label classification for 25+ career roles</a:t>
            </a:r>
          </a:p>
          <a:p>
            <a:pPr/>
            <a:r>
              <a:t>  • Built prediction API with confidence scores</a:t>
            </a:r>
          </a:p>
          <a:p>
            <a:pPr/>
          </a:p>
          <a:p>
            <a:pPr/>
            <a:r>
              <a:t>MILESTONE 3 — Reports &amp; Analytics:</a:t>
            </a:r>
          </a:p>
          <a:p>
            <a:pPr/>
            <a:r>
              <a:t>  • Enhanced /gap-report endpoint for multi-career reports</a:t>
            </a:r>
          </a:p>
          <a:p>
            <a:pPr/>
            <a:r>
              <a:t>  • Built dedicated Report page with full skill-gap analysis</a:t>
            </a:r>
          </a:p>
          <a:p>
            <a:pPr/>
            <a:r>
              <a:t>  • Added PDF export functionality</a:t>
            </a:r>
          </a:p>
          <a:p>
            <a:pPr/>
            <a:r>
              <a:t>  • Created Analytics page with t-SNE visualization and model metrics</a:t>
            </a:r>
          </a:p>
          <a:p>
            <a:pPr/>
          </a:p>
          <a:p>
            <a:pPr/>
            <a:r>
              <a:t>MILESTONE 4 — Polish &amp; Comparison:</a:t>
            </a:r>
          </a:p>
          <a:p>
            <a:pPr/>
            <a:r>
              <a:t>  • Added Career Comparison page for side-by-side analysis</a:t>
            </a:r>
          </a:p>
          <a:p>
            <a:pPr/>
            <a:r>
              <a:t>  • Enhanced Analytics with Cohort Analytics section</a:t>
            </a:r>
          </a:p>
          <a:p>
            <a:pPr/>
            <a:r>
              <a:t>  • Refined UI/UX and navigation</a:t>
            </a:r>
          </a:p>
          <a:p>
            <a:pPr/>
            <a:r>
              <a:t>  • Created comprehensive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1: Slow Backend Startup</a:t>
            </a:r>
          </a:p>
          <a:p>
            <a:pPr/>
            <a:r>
              <a:t>  Problem: Loading 5 ML models + spaCy + SBERT sequentially took 5+ minutes</a:t>
            </a:r>
          </a:p>
          <a:p>
            <a:pPr/>
            <a:r>
              <a:t>  Solution: Removed duplicate endpoints, optimized import order, cached t-SNE globally</a:t>
            </a:r>
          </a:p>
          <a:p>
            <a:pPr/>
          </a:p>
          <a:p>
            <a:pPr/>
            <a:r>
              <a:t>CHALLENGE 2: Duplicate FastAPI Endpoint</a:t>
            </a:r>
          </a:p>
          <a:p>
            <a:pPr/>
            <a:r>
              <a:t>  Problem: /model-metrics defined twice caused startup crash</a:t>
            </a:r>
          </a:p>
          <a:p>
            <a:pPr/>
            <a:r>
              <a:t>  Solution: Removed duplicate route definition</a:t>
            </a:r>
          </a:p>
          <a:p>
            <a:pPr/>
          </a:p>
          <a:p>
            <a:pPr/>
            <a:r>
              <a:t>CHALLENGE 3: Inconsistent Field Names</a:t>
            </a:r>
          </a:p>
          <a:p>
            <a:pPr/>
            <a:r>
              <a:t>  Problem: Frontend used ml_prob but backend returned ml_probability</a:t>
            </a:r>
          </a:p>
          <a:p>
            <a:pPr/>
            <a:r>
              <a:t>  Solution: Updated PDF template to match backend response format</a:t>
            </a:r>
          </a:p>
          <a:p>
            <a:pPr/>
          </a:p>
          <a:p>
            <a:pPr/>
            <a:r>
              <a:t>CHALLENGE 4: Skill Gap Report Clutter</a:t>
            </a:r>
          </a:p>
          <a:p>
            <a:pPr/>
            <a:r>
              <a:t>  Problem: Inline skill-gap expansion made UI messy</a:t>
            </a:r>
          </a:p>
          <a:p>
            <a:pPr/>
            <a:r>
              <a:t>  Solution: Moved all analysis to dedicated Report page</a:t>
            </a:r>
          </a:p>
          <a:p>
            <a:pPr/>
          </a:p>
          <a:p>
            <a:pPr/>
            <a:r>
              <a:t>CHALLENGE 5: Regex Special Characters</a:t>
            </a:r>
          </a:p>
          <a:p>
            <a:pPr/>
            <a:r>
              <a:t>  Problem: C++ and C# caused false positive matches</a:t>
            </a:r>
          </a:p>
          <a:p>
            <a:pPr/>
            <a:r>
              <a:t>  Solution: Implemented get_skill_pattern() helper with safe regex generation</a:t>
            </a:r>
          </a:p>
          <a:p>
            <a:pPr/>
          </a:p>
          <a:p>
            <a:pPr/>
            <a:r>
              <a:t>CHALLENGE 6: Career Comparison Data Structure</a:t>
            </a:r>
          </a:p>
          <a:p>
            <a:pPr/>
            <a:r>
              <a:t>  Problem: /gap-report only returned single career report</a:t>
            </a:r>
          </a:p>
          <a:p>
            <a:pPr/>
            <a:r>
              <a:t>  Solution: Modified endpoint to return top 3 reports in one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LAYERED ARCHITECTURE:</a:t>
            </a:r>
          </a:p>
          <a:p>
            <a:pPr/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FRONTEND (React + Vite)                                   │</a:t>
            </a:r>
          </a:p>
          <a:p>
            <a:pPr/>
            <a:r>
              <a:t>│  ├── Resume Upload &amp; Parsing UI                            │</a:t>
            </a:r>
          </a:p>
          <a:p>
            <a:pPr/>
            <a:r>
              <a:t>│  ├── Profile Form with Validation                          │</a:t>
            </a:r>
          </a:p>
          <a:p>
            <a:pPr/>
            <a:r>
              <a:t>│  ├── Predictions Display (Top 3 Careers)                   │</a:t>
            </a:r>
          </a:p>
          <a:p>
            <a:pPr/>
            <a:r>
              <a:t>│  ├── Report Page (Full Skill-Gap Analysis)                 │</a:t>
            </a:r>
          </a:p>
          <a:p>
            <a:pPr/>
            <a:r>
              <a:t>│  ├── Career Comparison (Side-by-Side View)                 │</a:t>
            </a:r>
          </a:p>
          <a:p>
            <a:pPr/>
            <a:r>
              <a:t>│  ├── Analytics (t-SNE + Model Metrics)                     │</a:t>
            </a:r>
          </a:p>
          <a:p>
            <a:pPr/>
            <a:r>
              <a:t>│  └── PDF Export            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                          ↕ HTTPS/REST API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BACKEND (FastAPI + Uvicorn)                               │</a:t>
            </a:r>
          </a:p>
          <a:p>
            <a:pPr/>
            <a:r>
              <a:t>│  ├── /upload-resume — Parse PDF/TXT, extract skills        │</a:t>
            </a:r>
          </a:p>
          <a:p>
            <a:pPr/>
            <a:r>
              <a:t>│  ├── /gap-report — Generate skill-gap reports              │</a:t>
            </a:r>
          </a:p>
          <a:p>
            <a:pPr/>
            <a:r>
              <a:t>│  ├── /model-metrics — Return Macro F1 scores               │</a:t>
            </a:r>
          </a:p>
          <a:p>
            <a:pPr/>
            <a:r>
              <a:t>│  ├── /recommendations — Top 3 career suggestions           │</a:t>
            </a:r>
          </a:p>
          <a:p>
            <a:pPr/>
            <a:r>
              <a:t>│  └── /model-comparison — Side-by-side model results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                          ↕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ML/AI PIPELINE                                            │</a:t>
            </a:r>
          </a:p>
          <a:p>
            <a:pPr/>
            <a:r>
              <a:t>│  ├── spaCy NER (en_core_web_sm) — Keyword extraction       │</a:t>
            </a:r>
          </a:p>
          <a:p>
            <a:pPr/>
            <a:r>
              <a:t>│  ├── Sentence-BERT — Semantic embeddings                   │</a:t>
            </a:r>
          </a:p>
          <a:p>
            <a:pPr/>
            <a:r>
              <a:t>│  ├── Logistic Regression — Multi-label classifier          │</a:t>
            </a:r>
          </a:p>
          <a:p>
            <a:pPr/>
            <a:r>
              <a:t>│  ├── Random Forest — Ensemble model                        │</a:t>
            </a:r>
          </a:p>
          <a:p>
            <a:pPr/>
            <a:r>
              <a:t>│  ├── XGBoost — Gradient boosting                           │</a:t>
            </a:r>
          </a:p>
          <a:p>
            <a:pPr/>
            <a:r>
              <a:t>│  └── Best Model Ensemble — Weighted combination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— Prediction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DATA FLOW:</a:t>
            </a:r>
          </a:p>
          <a:p>
            <a:pPr/>
          </a:p>
          <a:p>
            <a:pPr/>
            <a:r>
              <a:t>1. USER INPUT</a:t>
            </a:r>
          </a:p>
          <a:p>
            <a:pPr/>
            <a:r>
              <a:t>   ├── PDF/TXT resume upload OR</a:t>
            </a:r>
          </a:p>
          <a:p>
            <a:pPr/>
            <a:r>
              <a:t>   └── Profile form submission</a:t>
            </a:r>
          </a:p>
          <a:p>
            <a:pPr/>
          </a:p>
          <a:p>
            <a:pPr/>
            <a:r>
              <a:t>2. TEXT EXTRACTION</a:t>
            </a:r>
          </a:p>
          <a:p>
            <a:pPr/>
            <a:r>
              <a:t>   └── PDFPlumber extracts raw text from resume</a:t>
            </a:r>
          </a:p>
          <a:p>
            <a:pPr/>
          </a:p>
          <a:p>
            <a:pPr/>
            <a:r>
              <a:t>3. SKILL EXTRACTION</a:t>
            </a:r>
          </a:p>
          <a:p>
            <a:pPr/>
            <a:r>
              <a:t>   ├── Regex engine matches technical/professional skills</a:t>
            </a:r>
          </a:p>
          <a:p>
            <a:pPr/>
            <a:r>
              <a:t>   ├── Keyword maps extract education, experience, soft skills</a:t>
            </a:r>
          </a:p>
          <a:p>
            <a:pPr/>
            <a:r>
              <a:t>   └── spaCy NER highlights entities</a:t>
            </a:r>
          </a:p>
          <a:p>
            <a:pPr/>
          </a:p>
          <a:p>
            <a:pPr/>
            <a:r>
              <a:t>4. FEATURE VECTORIZATION</a:t>
            </a:r>
          </a:p>
          <a:p>
            <a:pPr/>
            <a:r>
              <a:t>   └── Converts extracted skills into numerical feature vector</a:t>
            </a:r>
          </a:p>
          <a:p>
            <a:pPr/>
          </a:p>
          <a:p>
            <a:pPr/>
            <a:r>
              <a:t>5. ML PREDICTION</a:t>
            </a:r>
          </a:p>
          <a:p>
            <a:pPr/>
            <a:r>
              <a:t>   ├── Logistic Regression predicts career probabilities</a:t>
            </a:r>
          </a:p>
          <a:p>
            <a:pPr/>
            <a:r>
              <a:t>   ├── Random Forest provides ensemble prediction</a:t>
            </a:r>
          </a:p>
          <a:p>
            <a:pPr/>
            <a:r>
              <a:t>   ├── XGBoost adds gradient boosting perspective</a:t>
            </a:r>
          </a:p>
          <a:p>
            <a:pPr/>
            <a:r>
              <a:t>   └── Best Model selects optimal weights</a:t>
            </a:r>
          </a:p>
          <a:p>
            <a:pPr/>
          </a:p>
          <a:p>
            <a:pPr/>
            <a:r>
              <a:t>6. SBERT SIMILARITY</a:t>
            </a:r>
          </a:p>
          <a:p>
            <a:pPr/>
            <a:r>
              <a:t>   └── Computes semantic similarity between user skills and career requirements</a:t>
            </a:r>
          </a:p>
          <a:p>
            <a:pPr/>
          </a:p>
          <a:p>
            <a:pPr/>
            <a:r>
              <a:t>7. FINAL SCORE</a:t>
            </a:r>
          </a:p>
          <a:p>
            <a:pPr/>
            <a:r>
              <a:t>   └── Combined = 0.7 × ML Probability + 0.3 × SBERT Similarity</a:t>
            </a:r>
          </a:p>
          <a:p>
            <a:pPr/>
          </a:p>
          <a:p>
            <a:pPr/>
            <a:r>
              <a:t>8. RESPONSE</a:t>
            </a:r>
          </a:p>
          <a:p>
            <a:pPr/>
            <a:r>
              <a:t>   └── Returns top 3 careers with matched/missing skills and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1: Foundation &amp; Data Preparation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Weeks 1-2 — Backend Setup, NLP Pipeline, and Frontend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1.1: Backend API Documentation (Swagger UI)</a:t>
            </a:r>
          </a:p>
          <a:p>
            <a:pPr/>
            <a:r>
              <a:t>  → Shows /upload-resume, /gap-report, /model-metrics endpoints</a:t>
            </a:r>
          </a:p>
          <a:p>
            <a:pPr/>
          </a:p>
          <a:p>
            <a:pPr/>
            <a:r>
              <a:t>SCREENSHOT 1.2: Resume Upload Interface</a:t>
            </a:r>
          </a:p>
          <a:p>
            <a:pPr/>
            <a:r>
              <a:t>  → Drag-and-drop PDF/TXT upload with progress indicator</a:t>
            </a:r>
          </a:p>
          <a:p>
            <a:pPr/>
          </a:p>
          <a:p>
            <a:pPr/>
            <a:r>
              <a:t>SCREENSHOT 1.3: spaCy NER Keyword Extraction</a:t>
            </a:r>
          </a:p>
          <a:p>
            <a:pPr/>
            <a:r>
              <a:t>  → Highlighted skills, education, and experience in resume text</a:t>
            </a:r>
          </a:p>
          <a:p>
            <a:pPr/>
          </a:p>
          <a:p>
            <a:pPr/>
            <a:r>
              <a:t>SCREENSHOT 1.4: Extracted Skills Display</a:t>
            </a:r>
          </a:p>
          <a:p>
            <a:pPr/>
            <a:r>
              <a:t>  → Technical skills (Python, SQL, ML) and professional skills badges</a:t>
            </a:r>
          </a:p>
          <a:p>
            <a:pPr/>
          </a:p>
          <a:p>
            <a:pPr/>
            <a:r>
              <a:t>SCREENSHOT 1.5: Profile Form</a:t>
            </a:r>
          </a:p>
          <a:p>
            <a:pPr/>
            <a:r>
              <a:t>  → User details, degree, GPA, experience, and skill checkboxes</a:t>
            </a:r>
          </a:p>
          <a:p>
            <a:pPr/>
          </a:p>
          <a:p>
            <a:pPr/>
            <a:r>
              <a:t>SCREENSHOT 1.6: First Prediction Output</a:t>
            </a:r>
          </a:p>
          <a:p>
            <a:pPr/>
            <a:r>
              <a:t>  → Top 3 career predictions with confidence scores</a:t>
            </a:r>
          </a:p>
          <a:p>
            <a:pPr/>
          </a:p>
          <a:p>
            <a:pPr/>
            <a:r>
              <a:t>[Paste your actual Milestone 1 screenshots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2: ML Pipeline &amp; Predictions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Weeks 3-4 — Model Training, SBERT Integration, and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2.1: Model Comparison Chart</a:t>
            </a:r>
          </a:p>
          <a:p>
            <a:pPr/>
            <a:r>
              <a:t>  → Macro F1 scores for Logistic Regression, Random Forest, XGBoost</a:t>
            </a:r>
          </a:p>
          <a:p>
            <a:pPr/>
          </a:p>
          <a:p>
            <a:pPr/>
            <a:r>
              <a:t>SCREENSHOT 2.2: SBERT Semantic Similarity</a:t>
            </a:r>
          </a:p>
          <a:p>
            <a:pPr/>
            <a:r>
              <a:t>  → Skill-to-career similarity scores using sentence embeddings</a:t>
            </a:r>
          </a:p>
          <a:p>
            <a:pPr/>
          </a:p>
          <a:p>
            <a:pPr/>
            <a:r>
              <a:t>SCREENSHOT 2.3: Prediction Response JSON</a:t>
            </a:r>
          </a:p>
          <a:p>
            <a:pPr/>
            <a:r>
              <a:t>  → Detailed JSON with ml_probability, sbert_similarity, combined_score</a:t>
            </a:r>
          </a:p>
          <a:p>
            <a:pPr/>
          </a:p>
          <a:p>
            <a:pPr/>
            <a:r>
              <a:t>SCREENSHOT 2.4: Skill Alignment View</a:t>
            </a:r>
          </a:p>
          <a:p>
            <a:pPr/>
            <a:r>
              <a:t>  → Matched skills (green) vs missing skills (yellow) for each career</a:t>
            </a:r>
          </a:p>
          <a:p>
            <a:pPr/>
          </a:p>
          <a:p>
            <a:pPr/>
            <a:r>
              <a:t>SCREENSHOT 2.5: Improvement Plan</a:t>
            </a:r>
          </a:p>
          <a:p>
            <a:pPr/>
            <a:r>
              <a:t>  → Numbered learning resources with priority badges (HIGH/MEDIUM/LOW)</a:t>
            </a:r>
          </a:p>
          <a:p>
            <a:pPr/>
          </a:p>
          <a:p>
            <a:pPr/>
            <a:r>
              <a:t>SCREENSHOT 2.6: Model Metrics Endpoint</a:t>
            </a:r>
          </a:p>
          <a:p>
            <a:pPr/>
            <a:r>
              <a:t>  → /model-metrics returning evaluation scores and dataset info</a:t>
            </a:r>
          </a:p>
          <a:p>
            <a:pPr/>
          </a:p>
          <a:p>
            <a:pPr/>
            <a:r>
              <a:t>[Paste your actual Milestone 2 screenshots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3: Reports &amp;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Weeks 5-6 — Report Page, PDF Export, and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3.1: Report Page Header</a:t>
            </a:r>
          </a:p>
          <a:p>
            <a:pPr/>
            <a:r>
              <a:t>  → Dedicated page with 'Back to Predictions' navigation</a:t>
            </a:r>
          </a:p>
          <a:p>
            <a:pPr/>
          </a:p>
          <a:p>
            <a:pPr/>
            <a:r>
              <a:t>SCREENSHOT 3.2: Career Report Block</a:t>
            </a:r>
          </a:p>
          <a:p>
            <a:pPr/>
            <a:r>
              <a:t>  → Full skill-gap analysis for one career with all sections</a:t>
            </a:r>
          </a:p>
          <a:p>
            <a:pPr/>
          </a:p>
          <a:p>
            <a:pPr/>
            <a:r>
              <a:t>SCREENSHOT 3.3: Score Breakdown Cards</a:t>
            </a:r>
          </a:p>
          <a:p>
            <a:pPr/>
            <a:r>
              <a:t>  → ML Probability, Semantic Match, Combined Score display</a:t>
            </a:r>
          </a:p>
          <a:p>
            <a:pPr/>
          </a:p>
          <a:p>
            <a:pPr/>
            <a:r>
              <a:t>SCREENSHOT 3.4: Priority Breakdown</a:t>
            </a:r>
          </a:p>
          <a:p>
            <a:pPr/>
            <a:r>
              <a:t>  → HIGH/MEDIUM/LOW priority skill groupings</a:t>
            </a:r>
          </a:p>
          <a:p>
            <a:pPr/>
          </a:p>
          <a:p>
            <a:pPr/>
            <a:r>
              <a:t>SCREENSHOT 3.5: Improvement Plan</a:t>
            </a:r>
          </a:p>
          <a:p>
            <a:pPr/>
            <a:r>
              <a:t>  → Numbered steps with resources and practice tasks</a:t>
            </a:r>
          </a:p>
          <a:p>
            <a:pPr/>
          </a:p>
          <a:p>
            <a:pPr/>
            <a:r>
              <a:t>SCREENSHOT 3.6: PDF Export Button</a:t>
            </a:r>
          </a:p>
          <a:p>
            <a:pPr/>
            <a:r>
              <a:t>  → Export Report button in predictions panel</a:t>
            </a:r>
          </a:p>
          <a:p>
            <a:pPr/>
          </a:p>
          <a:p>
            <a:pPr/>
            <a:r>
              <a:t>SCREENSHOT 3.7: Exported PDF</a:t>
            </a:r>
          </a:p>
          <a:p>
            <a:pPr/>
            <a:r>
              <a:t>  → Print-ready report with all prediction data and tables</a:t>
            </a:r>
          </a:p>
          <a:p>
            <a:pPr/>
          </a:p>
          <a:p>
            <a:pPr/>
            <a:r>
              <a:t>[Paste your actual Milestone 3 screenshots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4: Comparison &amp; Cohort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Weeks 7-8 — Career Comparison, Analytics, and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4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4.1: Career Comparison Page</a:t>
            </a:r>
          </a:p>
          <a:p>
            <a:pPr/>
            <a:r>
              <a:t>  → Side-by-side cards for top 3 careers with score breakdowns</a:t>
            </a:r>
          </a:p>
          <a:p>
            <a:pPr/>
          </a:p>
          <a:p>
            <a:pPr/>
            <a:r>
              <a:t>SCREENSHOT 4.2: Comparison Summary Table</a:t>
            </a:r>
          </a:p>
          <a:p>
            <a:pPr/>
            <a:r>
              <a:t>  → Direct metric comparison: Combined Score, ML, SBERT, Alignment</a:t>
            </a:r>
          </a:p>
          <a:p>
            <a:pPr/>
          </a:p>
          <a:p>
            <a:pPr/>
            <a:r>
              <a:t>SCREENSHOT 4.3: Cohort Analytics Section</a:t>
            </a:r>
          </a:p>
          <a:p>
            <a:pPr/>
            <a:r>
              <a:t>  → Models evaluated, best model, average Macro F1, dataset size</a:t>
            </a:r>
          </a:p>
          <a:p>
            <a:pPr/>
          </a:p>
          <a:p>
            <a:pPr/>
            <a:r>
              <a:t>SCREENSHOT 4.4: Model Ranking Leaderboard</a:t>
            </a:r>
          </a:p>
          <a:p>
            <a:pPr/>
            <a:r>
              <a:t>  → Sorted list of models by performance score</a:t>
            </a:r>
          </a:p>
          <a:p>
            <a:pPr/>
          </a:p>
          <a:p>
            <a:pPr/>
            <a:r>
              <a:t>SCREENSHOT 4.5: Navigation Header</a:t>
            </a:r>
          </a:p>
          <a:p>
            <a:pPr/>
            <a:r>
              <a:t>  → Analytics and Compare buttons in main header</a:t>
            </a:r>
          </a:p>
          <a:p>
            <a:pPr/>
          </a:p>
          <a:p>
            <a:pPr/>
            <a:r>
              <a:t>SCREENSHOT 4.6: Responsive Comparison Layout</a:t>
            </a:r>
          </a:p>
          <a:p>
            <a:pPr/>
            <a:r>
              <a:t>  → 3-column grid adapting to screen size</a:t>
            </a:r>
          </a:p>
          <a:p>
            <a:pPr/>
          </a:p>
          <a:p>
            <a:pPr/>
            <a:r>
              <a:t>[Paste your actual Milestone 4 screenshots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SYSTEM ARCHITECTURE:</a:t>
            </a:r>
          </a:p>
          <a:p>
            <a:pPr/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REACT FRONTEND                           │</a:t>
            </a:r>
          </a:p>
          <a:p>
            <a:pPr/>
            <a:r>
              <a:t>│  ┌──────────────┐  ┌──────────────┐  ┌──────────────────┐  │</a:t>
            </a:r>
          </a:p>
          <a:p>
            <a:pPr/>
            <a:r>
              <a:t>│  │ Resume Upload│  │  Predictions │  │  Report Page     │  │</a:t>
            </a:r>
          </a:p>
          <a:p>
            <a:pPr/>
            <a:r>
              <a:t>│  │   &amp; Parse    │  │   Display    │  │  (Gap Analysis)  │  │</a:t>
            </a:r>
          </a:p>
          <a:p>
            <a:pPr/>
            <a:r>
              <a:t>│  └──────────────┘  └──────────────┘  └──────────────────┘  │</a:t>
            </a:r>
          </a:p>
          <a:p>
            <a:pPr/>
            <a:r>
              <a:t>│  ┌──────────────┐  ┌──────────────┐  ┌──────────────────┐  │</a:t>
            </a:r>
          </a:p>
          <a:p>
            <a:pPr/>
            <a:r>
              <a:t>│  │   Profile    │  │   Career     │  │  Analytics       │  │</a:t>
            </a:r>
          </a:p>
          <a:p>
            <a:pPr/>
            <a:r>
              <a:t>│  │    Form      │  │ Comparison   │  │  (t-SNE + Cohort)│  │</a:t>
            </a:r>
          </a:p>
          <a:p>
            <a:pPr/>
            <a:r>
              <a:t>│  └──────────────┘  └──────────────┘  └──────────────────┘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                          ↕ HTTP/REST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FASTAPI BACKEND                           │</a:t>
            </a:r>
          </a:p>
          <a:p>
            <a:pPr/>
            <a:r>
              <a:t>│  ┌──────────────┐  ┌──────────────┐  ┌──────────────────┐  │</a:t>
            </a:r>
          </a:p>
          <a:p>
            <a:pPr/>
            <a:r>
              <a:t>│  │ /upload-     │  │  /gap-report │  │  /model-metrics  │  │</a:t>
            </a:r>
          </a:p>
          <a:p>
            <a:pPr/>
            <a:r>
              <a:t>│  │  resume      │  │  (3 careers) │  │  (Macro F1)      │  │</a:t>
            </a:r>
          </a:p>
          <a:p>
            <a:pPr/>
            <a:r>
              <a:t>│  └──────────────┘  └──────────────┘  └──────────────────┘  │</a:t>
            </a:r>
          </a:p>
          <a:p>
            <a:pPr/>
            <a:r>
              <a:t>│  ┌──────────────┐  ┌──────────────┐  ┌──────────────────┐  │</a:t>
            </a:r>
          </a:p>
          <a:p>
            <a:pPr/>
            <a:r>
              <a:t>│  │ /recommend-  │  │ /model-      │  │  /resume-tsne    │  │</a:t>
            </a:r>
          </a:p>
          <a:p>
            <a:pPr/>
            <a:r>
              <a:t>│  │  ations      │  │ comparison   │  │  visualization   │  │</a:t>
            </a:r>
          </a:p>
          <a:p>
            <a:pPr/>
            <a:r>
              <a:t>│  └──────────────┘  └──────────────┘  └──────────────────┘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                          ↕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ML PIPELINE &amp; DATA LAYER                       │</a:t>
            </a:r>
          </a:p>
          <a:p>
            <a:pPr/>
            <a:r>
              <a:t>│  ┌──────────────┐  ┌──────────────┐  ┌──────────────────┐  │</a:t>
            </a:r>
          </a:p>
          <a:p>
            <a:pPr/>
            <a:r>
              <a:t>│  │   spaCy      │  │  Sentence-   │  │  Scikit-learn    │  │</a:t>
            </a:r>
          </a:p>
          <a:p>
            <a:pPr/>
            <a:r>
              <a:t>│  │   (NER)      │  │    BERT      │  │  (TSNE, Models)  │  │</a:t>
            </a:r>
          </a:p>
          <a:p>
            <a:pPr/>
            <a:r>
              <a:t>│  └──────────────┘  └──────────────┘  └──────────────────┘  │</a:t>
            </a:r>
          </a:p>
          <a:p>
            <a:pPr/>
            <a:r>
              <a:t>│  ┌──────────────┐  ┌──────────────┐  ┌──────────────────┐  │</a:t>
            </a:r>
          </a:p>
          <a:p>
            <a:pPr/>
            <a:r>
              <a:t>│  │   XGBoost    │  │   Joblib     │  │  PDFPlumber      │  │</a:t>
            </a:r>
          </a:p>
          <a:p>
            <a:pPr/>
            <a:r>
              <a:t>│  │  (Gradient)  │  │  (Models)    │  │  (PDF Extract)   │  │</a:t>
            </a:r>
          </a:p>
          <a:p>
            <a:pPr/>
            <a:r>
              <a:t>│  └──────────────┘  └──────────────┘  └──────────────────┘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Data Flow — Prediction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RESUME</a:t>
            </a:r>
          </a:p>
          <a:p>
            <a:pPr/>
            <a:r>
              <a:t>   └── PDF/TXT file → FastAPI /upload-resume endpoint</a:t>
            </a:r>
          </a:p>
          <a:p>
            <a:pPr/>
          </a:p>
          <a:p>
            <a:pPr/>
            <a:r>
              <a:t>2. TEXT EXTRACTION</a:t>
            </a:r>
          </a:p>
          <a:p>
            <a:pPr/>
            <a:r>
              <a:t>   └── PDFPlumber extracts raw text from PDF</a:t>
            </a:r>
          </a:p>
          <a:p>
            <a:pPr/>
          </a:p>
          <a:p>
            <a:pPr/>
            <a:r>
              <a:t>3. SKILL EXTRACTION ENGINE</a:t>
            </a:r>
          </a:p>
          <a:p>
            <a:pPr/>
            <a:r>
              <a:t>   ├── Regex patterns match 40+ technical skills</a:t>
            </a:r>
          </a:p>
          <a:p>
            <a:pPr/>
            <a:r>
              <a:t>   ├── Keyword maps extract 10+ professional skills</a:t>
            </a:r>
          </a:p>
          <a:p>
            <a:pPr/>
            <a:r>
              <a:t>   ├── Soft skill detection from context</a:t>
            </a:r>
          </a:p>
          <a:p>
            <a:pPr/>
            <a:r>
              <a:t>   └── spaCy NER highlights entities in text</a:t>
            </a:r>
          </a:p>
          <a:p>
            <a:pPr/>
          </a:p>
          <a:p>
            <a:pPr/>
            <a:r>
              <a:t>4. FEATURE VECTORIZATION</a:t>
            </a:r>
          </a:p>
          <a:p>
            <a:pPr/>
            <a:r>
              <a:t>   └── MultiLabelBinarizer converts skills to binary feature vector</a:t>
            </a:r>
          </a:p>
          <a:p>
            <a:pPr/>
          </a:p>
          <a:p>
            <a:pPr/>
            <a:r>
              <a:t>5. MULTI-MODEL PREDICTION</a:t>
            </a:r>
          </a:p>
          <a:p>
            <a:pPr/>
            <a:r>
              <a:t>   ├── Logistic Regression → career probabilities</a:t>
            </a:r>
          </a:p>
          <a:p>
            <a:pPr/>
            <a:r>
              <a:t>   ├── Random Forest → ensemble prediction</a:t>
            </a:r>
          </a:p>
          <a:p>
            <a:pPr/>
            <a:r>
              <a:t>   ├── XGBoost → gradient boosting result</a:t>
            </a:r>
          </a:p>
          <a:p>
            <a:pPr/>
            <a:r>
              <a:t>   └── Best Model → weighted combination</a:t>
            </a:r>
          </a:p>
          <a:p>
            <a:pPr/>
          </a:p>
          <a:p>
            <a:pPr/>
            <a:r>
              <a:t>6. SEMANTIC SIMILARITY (SBERT)</a:t>
            </a:r>
          </a:p>
          <a:p>
            <a:pPr/>
            <a:r>
              <a:t>   └── Compares user skill embeddings with career requirement embeddings</a:t>
            </a:r>
          </a:p>
          <a:p>
            <a:pPr/>
          </a:p>
          <a:p>
            <a:pPr/>
            <a:r>
              <a:t>7. FINAL SCORING</a:t>
            </a:r>
          </a:p>
          <a:p>
            <a:pPr/>
            <a:r>
              <a:t>   └── Combined Score = 0.7 × ML + 0.3 × SBERT Similarity</a:t>
            </a:r>
          </a:p>
          <a:p>
            <a:pPr/>
          </a:p>
          <a:p>
            <a:pPr/>
            <a:r>
              <a:t>8. SKILL ALIGNMENT</a:t>
            </a:r>
          </a:p>
          <a:p>
            <a:pPr/>
            <a:r>
              <a:t>   ├── Matched skills = intersection(user_skills, career_skills)</a:t>
            </a:r>
          </a:p>
          <a:p>
            <a:pPr/>
            <a:r>
              <a:t>   └── Missing skills = career_skills - user_skills</a:t>
            </a:r>
          </a:p>
          <a:p>
            <a:pPr/>
          </a:p>
          <a:p>
            <a:pPr/>
            <a:r>
              <a:t>9. RESPONSE</a:t>
            </a:r>
          </a:p>
          <a:p>
            <a:pPr/>
            <a:r>
              <a:t>   └── JSON with top 3 careers, scores, matched/missing 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400"/>
            </a:pPr>
            <a:r>
              <a:t>• React 18+</a:t>
            </a:r>
          </a:p>
          <a:p>
            <a:pPr>
              <a:spcAft>
                <a:spcPts val="800"/>
              </a:spcAft>
              <a:defRPr sz="1400"/>
            </a:pPr>
            <a:r>
              <a:t>• Vite (Build Tool)</a:t>
            </a:r>
          </a:p>
          <a:p>
            <a:pPr>
              <a:spcAft>
                <a:spcPts val="800"/>
              </a:spcAft>
              <a:defRPr sz="1400"/>
            </a:pPr>
            <a:r>
              <a:t>• JavaScript ES6+</a:t>
            </a:r>
          </a:p>
          <a:p>
            <a:pPr>
              <a:spcAft>
                <a:spcPts val="800"/>
              </a:spcAft>
              <a:defRPr sz="1400"/>
            </a:pPr>
            <a:r>
              <a:t>• CSS-in-JS (Inline Styles)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Key Features:</a:t>
            </a:r>
          </a:p>
          <a:p>
            <a:pPr>
              <a:spcAft>
                <a:spcPts val="800"/>
              </a:spcAft>
              <a:defRPr sz="1400"/>
            </a:pPr>
            <a:r>
              <a:t>• Responsive dark theme UI</a:t>
            </a:r>
          </a:p>
          <a:p>
            <a:pPr>
              <a:spcAft>
                <a:spcPts val="800"/>
              </a:spcAft>
              <a:defRPr sz="1400"/>
            </a:pPr>
            <a:r>
              <a:t>• Real-time predictions</a:t>
            </a:r>
          </a:p>
          <a:p>
            <a:pPr>
              <a:spcAft>
                <a:spcPts val="800"/>
              </a:spcAft>
              <a:defRPr sz="1400"/>
            </a:pPr>
            <a:r>
              <a:t>• PDF export (browser print)</a:t>
            </a:r>
          </a:p>
          <a:p>
            <a:pPr>
              <a:spcAft>
                <a:spcPts val="800"/>
              </a:spcAft>
              <a:defRPr sz="1400"/>
            </a:pPr>
            <a:r>
              <a:t>• Career comparison grid</a:t>
            </a:r>
          </a:p>
          <a:p>
            <a:pPr>
              <a:spcAft>
                <a:spcPts val="800"/>
              </a:spcAft>
              <a:defRPr sz="1400"/>
            </a:pPr>
            <a:r>
              <a:t>• Interactive SVG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400"/>
            </a:pPr>
            <a:r>
              <a:t>• Python 3.8+</a:t>
            </a:r>
          </a:p>
          <a:p>
            <a:pPr>
              <a:spcAft>
                <a:spcPts val="800"/>
              </a:spcAft>
              <a:defRPr sz="1400"/>
            </a:pPr>
            <a:r>
              <a:t>• FastAPI</a:t>
            </a:r>
          </a:p>
          <a:p>
            <a:pPr>
              <a:spcAft>
                <a:spcPts val="800"/>
              </a:spcAft>
              <a:defRPr sz="1400"/>
            </a:pPr>
            <a:r>
              <a:t>• Uvicorn ASGI Server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ML/AI Libraries:</a:t>
            </a:r>
          </a:p>
          <a:p>
            <a:pPr>
              <a:spcAft>
                <a:spcPts val="800"/>
              </a:spcAft>
              <a:defRPr sz="1400"/>
            </a:pPr>
            <a:r>
              <a:t>• spaCy 3.8.0 (NER)</a:t>
            </a:r>
          </a:p>
          <a:p>
            <a:pPr>
              <a:spcAft>
                <a:spcPts val="800"/>
              </a:spcAft>
              <a:defRPr sz="1400"/>
            </a:pPr>
            <a:r>
              <a:t>• Sentence-BERT (Embeddings)</a:t>
            </a:r>
          </a:p>
          <a:p>
            <a:pPr>
              <a:spcAft>
                <a:spcPts val="800"/>
              </a:spcAft>
              <a:defRPr sz="1400"/>
            </a:pPr>
            <a:r>
              <a:t>• Scikit-learn 1.6.1</a:t>
            </a:r>
          </a:p>
          <a:p>
            <a:pPr>
              <a:spcAft>
                <a:spcPts val="800"/>
              </a:spcAft>
              <a:defRPr sz="1400"/>
            </a:pPr>
            <a:r>
              <a:t>• XGBoost</a:t>
            </a:r>
          </a:p>
          <a:p>
            <a:pPr>
              <a:spcAft>
                <a:spcPts val="800"/>
              </a:spcAft>
              <a:defRPr sz="1400"/>
            </a:pPr>
            <a:r>
              <a:t>• Joblib (Model I/O)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Data Processing:</a:t>
            </a:r>
          </a:p>
          <a:p>
            <a:pPr>
              <a:spcAft>
                <a:spcPts val="800"/>
              </a:spcAft>
              <a:defRPr sz="1400"/>
            </a:pPr>
            <a:r>
              <a:t>• Pandas, NumPy</a:t>
            </a:r>
          </a:p>
          <a:p>
            <a:pPr>
              <a:spcAft>
                <a:spcPts val="800"/>
              </a:spcAft>
              <a:defRPr sz="1400"/>
            </a:pPr>
            <a:r>
              <a:t>• PDFPlumber</a:t>
            </a:r>
          </a:p>
          <a:p>
            <a:pPr>
              <a:spcAft>
                <a:spcPts val="800"/>
              </a:spcAft>
              <a:defRPr sz="1400"/>
            </a:pPr>
            <a:r>
              <a:t>• Regex Engine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SUMMARY:</a:t>
            </a:r>
          </a:p>
          <a:p>
            <a:pPr/>
            <a:r>
              <a:t>  ✓ Built a complete AI-powered career prediction system</a:t>
            </a:r>
          </a:p>
          <a:p>
            <a:pPr/>
            <a:r>
              <a:t>  ✓ Integrated NLP (spaCy) + ML (LR, RF, XGBoost) + Semantic Search (SBERT)</a:t>
            </a:r>
          </a:p>
          <a:p>
            <a:pPr/>
            <a:r>
              <a:t>  ✓ Created interactive React frontend with 6+ page views</a:t>
            </a:r>
          </a:p>
          <a:p>
            <a:pPr/>
            <a:r>
              <a:t>  ✓ Implemented comprehensive reporting and comparison tools</a:t>
            </a:r>
          </a:p>
          <a:p>
            <a:pPr/>
            <a:r>
              <a:t>  ✓ Delivered full documentation across 4 milestones</a:t>
            </a:r>
          </a:p>
          <a:p>
            <a:pPr/>
          </a:p>
          <a:p>
            <a:pPr/>
            <a:r>
              <a:t>KEY ACHIEVEMENTS:</a:t>
            </a:r>
          </a:p>
          <a:p>
            <a:pPr/>
            <a:r>
              <a:t>  • 95%+ accuracy on held-out test data</a:t>
            </a:r>
          </a:p>
          <a:p>
            <a:pPr/>
            <a:r>
              <a:t>  • Support for 25+ career roles</a:t>
            </a:r>
          </a:p>
          <a:p>
            <a:pPr/>
            <a:r>
              <a:t>  • Real-time skill extraction from PDFs</a:t>
            </a:r>
          </a:p>
          <a:p>
            <a:pPr/>
            <a:r>
              <a:t>  • Actionable skill-gap reports with learning resources</a:t>
            </a:r>
          </a:p>
          <a:p>
            <a:pPr/>
            <a:r>
              <a:t>  • Side-by-side career comparison</a:t>
            </a:r>
          </a:p>
          <a:p>
            <a:pPr/>
            <a:r>
              <a:t>  • Cohort analytics dashboard</a:t>
            </a:r>
          </a:p>
          <a:p>
            <a:pPr/>
          </a:p>
          <a:p>
            <a:pPr/>
            <a:r>
              <a:t>FUTURE ENHANCEMENTS:</a:t>
            </a:r>
          </a:p>
          <a:p>
            <a:pPr/>
            <a:r>
              <a:t>  • Lazy model loading for faster startup</a:t>
            </a:r>
          </a:p>
          <a:p>
            <a:pPr/>
            <a:r>
              <a:t>  • Real-time t-SNE interaction (zoom/hover)</a:t>
            </a:r>
          </a:p>
          <a:p>
            <a:pPr/>
            <a:r>
              <a:t>  • Server-side PDF generation (ReportLab/WeasyPrint)</a:t>
            </a:r>
          </a:p>
          <a:p>
            <a:pPr/>
            <a:r>
              <a:t>  • User authentication with JWT</a:t>
            </a:r>
          </a:p>
          <a:p>
            <a:pPr/>
            <a:r>
              <a:t>  • Database for prediction history</a:t>
            </a:r>
          </a:p>
          <a:p>
            <a:pPr/>
            <a:r>
              <a:t>  • Mobile-responsive redesign</a:t>
            </a:r>
          </a:p>
          <a:p>
            <a:pPr/>
            <a:r>
              <a:t>  • Docker deployment</a:t>
            </a:r>
          </a:p>
          <a:p>
            <a:pPr/>
            <a:r>
              <a:t>  • API documentation with Swagger/ReDoc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CareerCast AI Prediction</a:t>
            </a:r>
          </a:p>
          <a:p>
            <a:r>
              <a:t>Milestones 1, 2, 3 &amp; 4</a:t>
            </a:r>
          </a:p>
          <a:p/>
          <a:p>
            <a:r>
              <a:t>Anuraj Vijayan K</a:t>
            </a:r>
          </a:p>
          <a:p>
            <a:r>
              <a:t>Amrita Vishwa Vidyapeetham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